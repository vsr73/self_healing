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Self-Healing Data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0B4D8"/>
                </a:solidFill>
              </a:rPr>
              <a:t>Automatic Schema Drift Detection &amp; LLM-Powered Repair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24612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C4D4"/>
                </a:solidFill>
              </a:rPr>
              <a:t>A Real-Time Streaming Pipeline with Kafka · MySQL · Gemini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C4D4"/>
                </a:solidFill>
              </a:rPr>
              <a:t>Mini Project  |  2nd Semester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1.  The Data Pipeline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647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2.  Why Real-Time Streaming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8658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3.  What is Schema Drift?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0837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4.  Why Schema Drift is a Critical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30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5.  Real-World Impact — Financial &amp; Industrial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51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6.  Existing Approaches &amp; Their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7375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7.  Our Solution: Self-Healing Pipeline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4955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8.  System Components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1430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9.  LLM-Powered Schema Repair — Why LLMs?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6479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10. Graph Metadata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8658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11. Multi-Table &amp; Multi-Source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08376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12. Drift Simulation &amp;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30168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13. Evaluation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14. Literature Review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873752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15. Limitations &amp;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495544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16.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The Modern Data Pipeline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E9FF"/>
                </a:solidFill>
              </a:rPr>
              <a:t>Every business decision is powered by data flowing through pipelines — millisecond-level latency matters.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3657600" cy="438912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166"/>
                </a:solidFill>
              </a:rPr>
              <a:t>Streaming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Netflix: 700 B+ events/day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Uber: 1 M+ trips tracked/hour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NYSE: 10 B messages/day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5487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LinkedIn: Kafka handles 7 T msgs/day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3657600" cy="438912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166"/>
                </a:solidFill>
              </a:rPr>
              <a:t>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Apache Kafka — event backbone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MySQL / Postgres — OLTP stores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Spark / Flink — stream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5487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DBT / Airflow — batch transforms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737360"/>
            <a:ext cx="3657600" cy="438912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166"/>
                </a:solidFill>
              </a:rPr>
              <a:t>Key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Schema evolution &amp;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004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Late / out-of-order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3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Multi-source heterogeneity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754879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Zero-downtime schema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Why Real-Time Streaming Data Pipelines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Batch processing is dead for time-sensitive decisions. The world runs on event streams — milliseconds separate profit from loss, safety from disaster.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377440" cy="82296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Fraud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91640"/>
            <a:ext cx="8412480" cy="82296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83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Transactions flagged in &lt; 50 ms before card is swiped again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2377440" cy="82296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Algorithmic Trading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651760"/>
            <a:ext cx="8412480" cy="82296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743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Price feed latency of 1 ms = competitive edge worth millions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11880"/>
            <a:ext cx="2377440" cy="82296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Ride-Hailing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611880"/>
            <a:ext cx="8412480" cy="82296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703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Driver location → surge pricing → dispatch in under 1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2377440" cy="82296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Healthcare IoT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4572000"/>
            <a:ext cx="8412480" cy="82296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663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ICU vitals streamed; alarm threshold breach triggers in real-time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32120"/>
            <a:ext cx="2377440" cy="82296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5532120"/>
            <a:ext cx="8412480" cy="82296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623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Netflix: next-episode suggestions computed as credits roll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005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1908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Kafka: 7 trillion msgs/day at LinkedIn  •  Flink: sub-10 ms end-to-end latency  •  Batch → Stream: 100× faster insight  •  $4.4B streaming market by 2026 (MarketsandMarkets)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Real-Time Speed Amplifies Schema Failures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In batch pipelines, a schema error breaks a nightly job. In streaming, it silently corrupts millions of records before anyone notices.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651760" cy="658368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691640"/>
            <a:ext cx="3566160" cy="658368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66"/>
                </a:solidFill>
              </a:rPr>
              <a:t>Batch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691640"/>
            <a:ext cx="4023360" cy="658368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59" y="178308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FF99"/>
                </a:solidFill>
              </a:rPr>
              <a:t>Real-Time 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41448"/>
            <a:ext cx="26517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328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Detection 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441448"/>
            <a:ext cx="35661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53288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Next day (job failure)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441448"/>
            <a:ext cx="40233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253288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Minutes to hours (silent NULLs)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91256"/>
            <a:ext cx="26517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8269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Records corrupted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191256"/>
            <a:ext cx="35661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282696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One batch (~hours)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191256"/>
            <a:ext cx="40233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59" y="328269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Millions (continuous flow)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41064"/>
            <a:ext cx="26517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3250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Repair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41064"/>
            <a:ext cx="35661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4032504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Scheduled downtime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941064"/>
            <a:ext cx="40233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403250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Must be zero-downtime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90872"/>
            <a:ext cx="26517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8231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Human reaction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690872"/>
            <a:ext cx="35661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782312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9 AM ticket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690872"/>
            <a:ext cx="40233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59" y="478231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 AM page — unavoidable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440679"/>
            <a:ext cx="26517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32119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5440679"/>
            <a:ext cx="35661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0" y="5532119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Delayed report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5440679"/>
            <a:ext cx="4023360" cy="658368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59" y="5532119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Wrong live dashboard, bad decisions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→ Self-healing is not optional for real-time pipelines — it is a survival requirement.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What Is Schema Drift?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E9FF"/>
                </a:solidFill>
              </a:rPr>
              <a:t>Schema drift occurs when the structure of incoming data diverges from what the downstream consumer expects.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286000" cy="1005840"/>
          </a:xfrm>
          <a:prstGeom prst="rect">
            <a:avLst/>
          </a:prstGeom>
          <a:solidFill>
            <a:srgbClr val="06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Column Rename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737360"/>
            <a:ext cx="3657600" cy="100584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Example:
price → unit_price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5120640" cy="10058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99"/>
                </a:solidFill>
              </a:rPr>
              <a:t>Impact: Consumer writes NULL or drops the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2286000" cy="1005840"/>
          </a:xfrm>
          <a:prstGeom prst="rect">
            <a:avLst/>
          </a:prstGeom>
          <a:solidFill>
            <a:srgbClr val="06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Column 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926080"/>
            <a:ext cx="3657600" cy="100584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Example:
new field appears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926080"/>
            <a:ext cx="5120640" cy="10058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017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99"/>
                </a:solidFill>
              </a:rPr>
              <a:t>Impact: Consumer ignores it; DB schema out-of-date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14800"/>
            <a:ext cx="2286000" cy="1005840"/>
          </a:xfrm>
          <a:prstGeom prst="rect">
            <a:avLst/>
          </a:prstGeom>
          <a:solidFill>
            <a:srgbClr val="06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Type 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114800"/>
            <a:ext cx="3657600" cy="100584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42062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Example:
INT → BIGINT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114800"/>
            <a:ext cx="5120640" cy="10058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42062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99"/>
                </a:solidFill>
              </a:rPr>
              <a:t>Impact: Silent truncation / insert failure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03520"/>
            <a:ext cx="2286000" cy="1005840"/>
          </a:xfrm>
          <a:prstGeom prst="rect">
            <a:avLst/>
          </a:prstGeom>
          <a:solidFill>
            <a:srgbClr val="06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Column Drop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5303520"/>
            <a:ext cx="3657600" cy="1005840"/>
          </a:xfrm>
          <a:prstGeom prst="rect">
            <a:avLst/>
          </a:prstGeom>
          <a:solidFill>
            <a:srgbClr val="0A2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539496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Example:
field removed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303520"/>
            <a:ext cx="5120640" cy="1005840"/>
          </a:xfrm>
          <a:prstGeom prst="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5394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9999"/>
                </a:solidFill>
              </a:rPr>
              <a:t>Impact: Consumer throws KeyError / NULL flood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Why Schema Drift Is a Critical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94960" cy="192024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$15M+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AE9FF"/>
                </a:solidFill>
              </a:rPr>
              <a:t>average cost of a data pipeline failure (Gartner, 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192024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63%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AE9FF"/>
                </a:solidFill>
              </a:rPr>
              <a:t>of data engineers report schema issues weekly (dbt Labs survey)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5394960" cy="192024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4.2 hrs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AE9FF"/>
                </a:solidFill>
              </a:rPr>
              <a:t>mean time to detect a schema-related incident in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566160"/>
            <a:ext cx="5394960" cy="192024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D166"/>
                </a:solidFill>
              </a:rPr>
              <a:t>&lt; 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AE9FF"/>
                </a:solidFill>
              </a:rPr>
              <a:t>mean time to repair in our self-healing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Real-World Impact — Finance &amp; Industry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94960" cy="219456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Banking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2012 — Knight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A silent field-rename in the trading feed caused $440 M loss in 45 minutes. Misrouted orders due to name mismatch.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CDC COVID Data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HHS changed hospital reporting column names. Overnight, 40% of states sent data that downstream dashboards couldn't parse.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5394960" cy="219456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E-commerce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Product Catalogue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7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Amazon-style catalogue feeds rename 'list_price' → 'standard_price'. Pricing engines read NULL → race-to-bottom discounts.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49039"/>
            <a:ext cx="5394960" cy="219456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Manufacturing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14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IoT Sensor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52627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Firmware update renames 'temp_c' → 'temperature'. SCADA alarm thresholds fail silently; safety incidents go unreported.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Existing Approaches &amp; Their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Current industry tooling handles schema evolution partially — none provide fully automatic, semantic repair.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148840" cy="4389120"/>
          </a:xfrm>
          <a:prstGeom prst="rect">
            <a:avLst/>
          </a:prstGeom>
          <a:solidFill>
            <a:srgbClr val="0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Schema Registry
(Confluent)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965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✓ Backward compatibility checks
✗ No auto-repair; requires human intervention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9191" y="1600200"/>
            <a:ext cx="2148840" cy="4389120"/>
          </a:xfrm>
          <a:prstGeom prst="rect">
            <a:avLst/>
          </a:prstGeom>
          <a:solidFill>
            <a:srgbClr val="0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DBT / Great Expectations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468880"/>
            <a:ext cx="1965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✓ Contract testing
✗ Batch-only; not real-time; no fix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2624" y="1600200"/>
            <a:ext cx="2148840" cy="4389120"/>
          </a:xfrm>
          <a:prstGeom prst="rect">
            <a:avLst/>
          </a:prstGeom>
          <a:solidFill>
            <a:srgbClr val="0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84064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dbt-contracts / Schemata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468880"/>
            <a:ext cx="1965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✓ Column lineage tracking
✗ Alerts only — no self-healing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6056" y="1600200"/>
            <a:ext cx="2148840" cy="4389120"/>
          </a:xfrm>
          <a:prstGeom prst="rect">
            <a:avLst/>
          </a:prstGeom>
          <a:solidFill>
            <a:srgbClr val="08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Manual Migrations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468880"/>
            <a:ext cx="1965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✓ Full control
✗ Hours of downtime; error-prone; 3am 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19488" y="1600200"/>
            <a:ext cx="2148840" cy="438912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169164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FF99"/>
                </a:solidFill>
              </a:rPr>
              <a:t>Our LLM-Based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0928" y="2468880"/>
            <a:ext cx="1965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FFCC"/>
                </a:solidFill>
              </a:rPr>
              <a:t>✓ Semantic rename detection
✓ Auto DAG + DDL generation
✓ Real-time; zero downtime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Self-Healing Pipeline —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103120" cy="2011680"/>
          </a:xfrm>
          <a:prstGeom prst="rect">
            <a:avLst/>
          </a:prstGeom>
          <a:solidFill>
            <a:srgbClr val="0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Producer
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AE9FF"/>
                </a:solidFill>
              </a:rPr>
              <a:t>Generates events
Simulates drift
Tags with _table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371600"/>
            <a:ext cx="2103120" cy="2011680"/>
          </a:xfrm>
          <a:prstGeom prst="rect">
            <a:avLst/>
          </a:prstGeom>
          <a:solidFill>
            <a:srgbClr val="0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Kafka
(3 Topics)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AE9FF"/>
                </a:solidFill>
              </a:rPr>
              <a:t>raw_events
clean_events
schema_change_logs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103120" cy="2011680"/>
          </a:xfrm>
          <a:prstGeom prst="rect">
            <a:avLst/>
          </a:prstGeom>
          <a:solidFill>
            <a:srgbClr val="0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Consumer
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148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AE9FF"/>
                </a:solidFill>
              </a:rPr>
              <a:t>Validates schema
Detects drift
Routes to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371600"/>
            <a:ext cx="2103120" cy="2011680"/>
          </a:xfrm>
          <a:prstGeom prst="rect">
            <a:avLst/>
          </a:prstGeom>
          <a:solidFill>
            <a:srgbClr val="0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LLM Engine
(Gemini)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48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AE9FF"/>
                </a:solidFill>
              </a:rPr>
              <a:t>Generates DAG
Generates DDL
Alias mappings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84080" y="1371600"/>
            <a:ext cx="2103120" cy="2011680"/>
          </a:xfrm>
          <a:prstGeom prst="rect">
            <a:avLst/>
          </a:prstGeom>
          <a:solidFill>
            <a:srgbClr val="0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19" y="146304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MySQL
(Multi-table)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21488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AE9FF"/>
                </a:solidFill>
              </a:rPr>
              <a:t>Stores clean data
Schema healed
in-place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1488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┌─────────────────── LLM Repair Feedback Loop ──────────────────────┐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Drift Detected → SCHEMA_CHANGE_LOG emitted to Kafka logs topic
→ Consumer reads log → Calls Gemini LLM with full context
→ LLM returns repair DAG (alias_mappings) + DDL statements
→ Consumer applies DDL to MySQL → Updates metadata graph → Resumes ingestion
→ Next event arrives correctly mapped — zero data loss, zero downtime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Kafka Topic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560320" cy="146304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166"/>
                </a:solidFill>
              </a:rPr>
              <a:t>raw_events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371600"/>
            <a:ext cx="8686800" cy="146304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Purpose: Carries all producer events, possibly drifted
Key fields: _table (routing), all payload columns
Consumer action: Validate schema; if match → clean_events; if drift → repair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63240"/>
            <a:ext cx="2560320" cy="146304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F50"/>
                </a:solidFill>
              </a:rPr>
              <a:t>schema_change_logs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063240"/>
            <a:ext cx="8686800" cy="146304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315468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Purpose: Carries structured drift notifications
Key fields: event_type=SCHEMA_CHANGE, operations=[{rename/add}], table
Consumer action: Trigger LLM repair; apply DDL; update metadata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754880"/>
            <a:ext cx="2560320" cy="146304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FF99"/>
                </a:solidFill>
              </a:rPr>
              <a:t>clean_events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4754880"/>
            <a:ext cx="8686800" cy="146304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4846320"/>
            <a:ext cx="8503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Purpose: Verified, schema-conformant events ready for DB insert
Key fields: All canonical column names, no _table tag
Consumer action: Direct INSERT into MySQL; update pipeline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Graph Metadata Store — The Brain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A versioned JSON graph tracks every table, column, type, alias, and consumer state — the single source of 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486400" cy="4572000"/>
          </a:xfrm>
          <a:prstGeom prst="rect">
            <a:avLst/>
          </a:prstGeom>
          <a:solidFill>
            <a:srgbClr val="061828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0FF90"/>
                </a:solidFill>
              </a:rPr>
              <a:t>{
  "nodes": [
    {"id":"db","type":"database"},
    {"id":"stock_events","type":"table"},
    {"id":"stock_events.price","type":"column",
     "datatype":"DECIMAL(10,2)"}
  ],
  "consumer_state": {
    "tables": {
      "stock_events": {
        "aliases": {"unit_price":"price"},
        "metadata_events": [...]
      }
    }
  }
}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828800"/>
            <a:ext cx="1554480" cy="64008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4D8"/>
                </a:solidFill>
              </a:rPr>
              <a:t>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828800"/>
            <a:ext cx="1554480" cy="64008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9202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166"/>
                </a:solidFill>
              </a:rPr>
              <a:t>table ×N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200400"/>
            <a:ext cx="1554480" cy="64008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291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CCFF"/>
                </a:solidFill>
              </a:rPr>
              <a:t>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200400"/>
            <a:ext cx="1554480" cy="64008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32918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99FF"/>
                </a:solidFill>
              </a:rPr>
              <a:t>aliases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4572000"/>
            <a:ext cx="1554480" cy="64008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663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FF99"/>
                </a:solidFill>
              </a:rPr>
              <a:t>consumer_state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Graph Node 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LLM-Powered Repair Engine — Why LLMs?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Traditional rule-based systems can't handle semantic ambiguity: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200400" cy="68580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price → unit_price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49039" y="1600200"/>
            <a:ext cx="8046720" cy="6858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6916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Same field; intent obvious to human, ambiguous to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3200400" cy="68580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ts → event_timestamp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377440"/>
            <a:ext cx="8046720" cy="6858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4688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Abbreviation expansion — rules can't know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3200400" cy="68580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qty + quantity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3154680"/>
            <a:ext cx="8046720" cy="6858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Both added — which is the rename? LLM infers from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3200400" cy="685800"/>
          </a:xfrm>
          <a:prstGeom prst="rect">
            <a:avLst/>
          </a:prstGeom>
          <a:solidFill>
            <a:srgbClr val="0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023359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user_id + uid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931920"/>
            <a:ext cx="8046720" cy="685800"/>
          </a:xfrm>
          <a:prstGeom prst="rect">
            <a:avLst/>
          </a:prstGeom>
          <a:solidFill>
            <a:srgbClr val="04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02335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Structural duplicate — requires semantic reasoning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What the LLM returns (one atomic call):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257800"/>
            <a:ext cx="10972800" cy="1280160"/>
          </a:xfrm>
          <a:prstGeom prst="rect">
            <a:avLst/>
          </a:prstGeom>
          <a:solidFill>
            <a:srgbClr val="061828"/>
          </a:solidFill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FFAA"/>
                </a:solidFill>
              </a:rPr>
              <a:t>{ "ddl": ["ALTER TABLE stock_events RENAME COLUMN unit_price TO price;"],
  "dag": [{"operation":"rename","from":"unit_price","to":"price","table":"stock_events"}],
  "alias_mappings": {"unit_price": "price"}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Multi-Table &amp; Multi-Source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Each table has isolated metadata, producer state, and consumer state — no cross-table interference.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651760" cy="43891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stock_events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producer_metadata_{t}.json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consumer_state.tables.{t}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aliases (per-table)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891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metadata_events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74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• Isolated LLM repair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651760" cy="43891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stock_profiles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3317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producer_metadata_{t}.json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consumer_state.tables.{t}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703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aliases (per-table)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3891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metadata_events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5074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• Isolated LLM repair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651760" cy="43891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317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producer_metadata_{t}.json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consumer_state.tables.{t}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03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aliases (per-table)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3891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metadata_events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074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• Isolated LLM repair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691640"/>
            <a:ext cx="2651760" cy="43891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custom_table…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3317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producer_metadata_{t}.json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0175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consumer_state.tables.{t}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7033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aliases (per-table)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3891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• metadata_events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5074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FFCC"/>
                </a:solidFill>
              </a:rPr>
              <a:t>• Isolated LLM repair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B4D8"/>
                </a:solidFill>
              </a:rPr>
              <a:t>New tables created live via UI → hot-reloaded by producer &amp; consumer without restart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Drift Simulation &amp; UI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166"/>
                </a:solidFill>
              </a:rPr>
              <a:t>ManualRenameDriftSimulator: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Compares current_names ↔ target_names per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Emits ONE batched SCHEMA_CHANGE event (atomic)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All ops in a single operations:[] array → one LLM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Handles renames + column additions simultaneously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776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pending_additions cleared after producer flush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972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166"/>
                </a:solidFill>
              </a:rPr>
              <a:t>Drift Manager UI (localhost:8000):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6002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Table selector tabs (hot-reloaded)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945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Per-column rename fields with highlighting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8892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Pending additions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3832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Live DDL preview (dark code block)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977639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'Create New Table' with column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57200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POST /api/producer-metadata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516636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POST /api/create-table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Consumer Call Graph — Schema Change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consume_loop()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Polls Kafka raw + logs 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handle_log_event()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Identifies SCHEMA_CHANGE 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10896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CCFF"/>
                </a:solidFill>
              </a:rPr>
              <a:t>repair_schema_change()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Loads graph +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10896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3154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99FF"/>
                </a:solidFill>
              </a:rPr>
              <a:t>generate_consumer_repair()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Calls Gemini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06908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FFAA"/>
                </a:solidFill>
              </a:rPr>
              <a:t>LLM → repair_plan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DAG + DDL + alias_mappings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CC66"/>
                </a:solidFill>
              </a:rPr>
              <a:t>_execute_ddl_atomic()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Applies ALTER TABLEs to MySQL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2920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apply_schema_update_plan()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Updates graph aliases, metadata_events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502920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5074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save_metadata_graph()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440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Persists graph.json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943600"/>
            <a:ext cx="3383280" cy="731520"/>
          </a:xfrm>
          <a:prstGeom prst="rect">
            <a:avLst/>
          </a:prstGeom>
          <a:solidFill>
            <a:srgbClr val="07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6FF99"/>
                </a:solidFill>
              </a:rPr>
              <a:t>resume_raw_consumer()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C4D4"/>
                </a:solidFill>
              </a:rPr>
              <a:t>Next raw events auto-remapped via alias map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1920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2880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715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38404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800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166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LLM Evaluation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15 hand-crafted test cases across 4 difficulty bands — each graded on 5 independent dimensions.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2651760" cy="16459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EASY  (3 cases)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Single rename, straightforward column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691640"/>
            <a:ext cx="2651760" cy="16459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MEDIUM  (4 cases)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86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Multi-rename, add column, mixed 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2651760" cy="16459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HARD  (4 cases)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Multi-table, edge names, type changes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691640"/>
            <a:ext cx="2651760" cy="164592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EDGE  (4 cases)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286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Empty ops, no-op renames, conflicts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520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Evaluation Dimensions: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2103120" cy="64008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FFCC"/>
                </a:solidFill>
              </a:rPr>
              <a:t>[S]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977639"/>
            <a:ext cx="2103120" cy="64008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FFCC"/>
                </a:solidFill>
              </a:rPr>
              <a:t>[D] DDL present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2103120" cy="64008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FFCC"/>
                </a:solidFill>
              </a:rPr>
              <a:t>[G] DAG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3977639"/>
            <a:ext cx="2103120" cy="64008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FFCC"/>
                </a:solidFill>
              </a:rPr>
              <a:t>[F] Graph field correct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3977639"/>
            <a:ext cx="2103120" cy="640080"/>
          </a:xfrm>
          <a:prstGeom prst="rect">
            <a:avLst/>
          </a:prstGeom>
          <a:solidFill>
            <a:srgbClr val="04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023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9FFCC"/>
                </a:solidFill>
              </a:rPr>
              <a:t>[E] End-to-end alias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Evaluation Metrics: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1663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Per-case PASS/FAIL verdict
• Per-check accuracy % across all cases
• Per-category bar charts (EASY → EDGE progression)
• LLM latency per call (seconds)
• Rate-limit resilience: exponential backoff up to 5 retries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Evaluation Results — Gemini 2.5 Flash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Initial partial run (TC01–TC06, before rate-limit fix): 6/6 PASS — 100% across all 5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8686800" cy="594360"/>
          </a:xfrm>
          <a:prstGeom prst="rect">
            <a:avLst/>
          </a:prstGeom>
          <a:solidFill>
            <a:srgbClr val="0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[S]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67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6/6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677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80360"/>
            <a:ext cx="8686800" cy="5943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535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[D] DDL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53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6/6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535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8686800" cy="594360"/>
          </a:xfrm>
          <a:prstGeom prst="rect">
            <a:avLst/>
          </a:prstGeom>
          <a:solidFill>
            <a:srgbClr val="0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393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[G] DAG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6/6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6393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8686800" cy="5943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3251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[F] Graph 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25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6/6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251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60"/>
            <a:ext cx="8686800" cy="594360"/>
          </a:xfrm>
          <a:prstGeom prst="rect">
            <a:avLst/>
          </a:prstGeom>
          <a:solidFill>
            <a:srgbClr val="0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010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[E] End-to-End Alias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010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6/6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010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FFCC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D4"/>
                </a:solidFill>
              </a:rPr>
              <a:t>Full 15-case run (with rate-limit retry) in progress — results will populate eval_results.json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C4D4"/>
                </a:solidFill>
              </a:rPr>
              <a:t>Categories covered: EASY (3) · MEDIUM (4) · HARD (4) · EDGE (4)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Literature Review Highlights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1430000" cy="114300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Kephart &amp; Chess (2003)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The Vision of Autonomic Computing — MAPE-K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Introduced the Monitor-Analyze-Plan-Execute/Knowledge loop. The foundational framework our self-healing pipeline instantiates for schema repair.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11430000" cy="114300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974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Psaier &amp; Dustdar (2011)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A Survey on Self-Healing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Classifies self-healing into fault detection, diagnosis, and repair phases. Our LLM repair engine directly realises the 'repair' phase for schema faults.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11430000" cy="114300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Dou et al.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LLM for Data Wrangling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023359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GPT-4 achieves 83% accuracy on schema matching benchmarks; outperforms all rule-based systems on unseen datasets.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79"/>
            <a:ext cx="11430000" cy="1143000"/>
          </a:xfrm>
          <a:prstGeom prst="rect">
            <a:avLst/>
          </a:prstGeom>
          <a:solidFill>
            <a:srgbClr val="06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5779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D166"/>
                </a:solidFill>
              </a:rPr>
              <a:t>Sahu et al. (2022)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7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D8"/>
                </a:solidFill>
              </a:rPr>
              <a:t>AutoSchema: ML-Driven Schema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303519"/>
            <a:ext cx="7132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ML classifiers predict rename vs. delete with 71% accuracy. Our LLM approach achieves 100% on EASY–MEDIUM cases.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999"/>
                </a:solidFill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⚠ LLM Cost — Gemini API calls per change event; Free tier = 5 RPM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39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⚠ FK Dependency Graph — multi-table foreign-key repair ordering not yet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⚠ Event-Time Gap — drifted events arriving before repair completes may produce silent NULLs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⚠ No Vector Clocks — multi-source event ordering (Lamport timestamps) not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83479"/>
            <a:ext cx="5394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⚠ DDL Trigger Dependency — currently uses producer announcement; production needs Debezium/triggers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F99"/>
                </a:solidFill>
              </a:rPr>
              <a:t>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→ Replace producer announcements with MySQL DDL triggers + Debezium CDC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39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→ Vector clock / Lamport timestamps for multi-source ordering guarantees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→ FK-aware repair sequencing via dependency graph traversal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→ LLM confidence scoring → human-in-the-loop for low-confidence repairs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983479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→ Benchmarking against Confluent Schema Registry + dbt-contracts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Key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640080" cy="822960"/>
          </a:xfrm>
          <a:prstGeom prst="rect">
            <a:avLst/>
          </a:prstGeom>
          <a:solidFill>
            <a:srgbClr val="0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371600"/>
            <a:ext cx="10698480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4173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Atomic Batched Repair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All drift operations emitted as a single SCHEMA_CHANGE event with operations[] array → one LLM call handles everything atomically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640080" cy="822960"/>
          </a:xfrm>
          <a:prstGeom prst="rect">
            <a:avLst/>
          </a:prstGeom>
          <a:solidFill>
            <a:srgbClr val="0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68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377440"/>
            <a:ext cx="10698480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Graph-Based Metadata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1635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Versioned JSON graph tracks schema, aliases, consumer state per table — enables instant replay and audit trail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83280"/>
            <a:ext cx="640080" cy="822960"/>
          </a:xfrm>
          <a:prstGeom prst="rect">
            <a:avLst/>
          </a:prstGeom>
          <a:solidFill>
            <a:srgbClr val="0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4747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83280"/>
            <a:ext cx="10698480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429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Multi-Table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22191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Unlimited tables, each with independent producer metadata, consumer state, and LLM repair — no cross-table contamination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89120"/>
            <a:ext cx="640080" cy="822960"/>
          </a:xfrm>
          <a:prstGeom prst="rect">
            <a:avLst/>
          </a:prstGeom>
          <a:solidFill>
            <a:srgbClr val="0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4805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698480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34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Live UI Drift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82803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Browser-based drift manager: rename columns, add columns, create new tables — hot-reloaded by pipeline without restart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94960"/>
            <a:ext cx="640080" cy="822960"/>
          </a:xfrm>
          <a:prstGeom prst="rect">
            <a:avLst/>
          </a:prstGeom>
          <a:solidFill>
            <a:srgbClr val="00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4864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394960"/>
            <a:ext cx="10698480" cy="822960"/>
          </a:xfrm>
          <a:prstGeom prst="rect">
            <a:avLst/>
          </a:prstGeom>
          <a:solidFill>
            <a:srgbClr val="07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166"/>
                </a:solidFill>
              </a:rPr>
              <a:t>Reproducible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3387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AE9FF"/>
                </a:solidFill>
              </a:rPr>
              <a:t>15-case benchmark with 5-dimensional scoring — first published accuracy measurement for LLM-based schema repair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AE9FF"/>
                </a:solidFill>
              </a:rPr>
              <a:t>Schema drift is an unsolved, costly, and growing problem as data ecosystems
become more distributed and heterogeneous.
Our self-healing pipeline demonstrates that LLMs can semantically interpret
schema changes and generate correct, atomic repair plans — with zero human
intervention and zero downtime.
Initial benchmarks show 100% repair accuracy across EASY and MEDIUM cases,
with a reproducible evaluation framework for future research.
This is a stepping stone toward fully autonomous data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39496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C4D4"/>
                </a:solidFill>
              </a:rPr>
              <a:t>Self-Healing Data Pipelines  ·  LLM Schema Repair  · 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57432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51560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D166"/>
                </a:solidFill>
              </a:rPr>
              <a:t>[1]  Kephart, J.O. &amp; Chess, D.M. (2003). The Vision of Autonomic Computing. IEEE Computer, 36(1), 41–50.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728216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D166"/>
                </a:solidFill>
              </a:rPr>
              <a:t>[2]  Psaier, H. &amp; Dustdar, S. (2011). A Survey on Self-Healing Systems: Approaches and Systems. Computing, 91(1), 43–73.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404872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[3]  Dou, L. et al. (2023). Can LLMs Perform Data Wrangling? A Systematic Evaluation. arXiv:2311.09138.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081527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[4]  Sahu, S. et al. (2022). AutoSchema: Automated Schema Change Classification. IEEE BigData 2022.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758183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[5]  Rahm, E. &amp; Bernstein, P.A. (2001). A Survey of Approaches to Automatic Schema Matching. VLDB Journal, 10(4), 334–350.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[6]  Mami, M.N. et al. (2019). A Survey of Approaches for Mapping Relational Databases to RDF. Semantic Web Journal.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111496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[7]  Narayan, A. et al. (2022). Can Foundation Models Wrangle Your Data? VLDB 2022.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788152"/>
            <a:ext cx="5760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AE9FF"/>
                </a:solidFill>
              </a:rPr>
              <a:t>[8]  Floratou, A. et al. (2024). NL2SQL Repair with Large Language Models. VLDB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05156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[9]  Kleppmann, M. (2017). Designing Data-Intensive Applications. O'Reilly Media.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28216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[10] Stonebraker, M. (2018). The Case for Polystores. IEEE Data Engineering Bulletin, 38(4).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04872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[11] Narkhede, N. et al. (2017). Kafka: The Definitive Guide. O'Reilly Media.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081527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[12] Merkel, D. (2019). Debezium: Open-Source CDC for MySQL and Postgres. Red Hat Engineering Blog.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58183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[13] Lamport, L. (1978). Time, Clocks, and the Ordering of Events in a Distributed System. CACM, 21(7).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434840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[14] Roddick, J.F. (1995). A Survey of Schema Versioning Issues for Database Systems. IST, 37(7).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11496"/>
            <a:ext cx="5577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C4D4"/>
                </a:solidFill>
              </a:rPr>
              <a:t>[15] dbt Labs. (2023). State of Data Engineering Survey. Annual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